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62" r:id="rId3"/>
    <p:sldId id="263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6C3B"/>
    <a:srgbClr val="5E9CB2"/>
    <a:srgbClr val="A2CEE1"/>
    <a:srgbClr val="37763F"/>
    <a:srgbClr val="DAA520"/>
    <a:srgbClr val="FFFFFF"/>
    <a:srgbClr val="589C3F"/>
    <a:srgbClr val="004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90" autoAdjust="0"/>
    <p:restoredTop sz="94660"/>
  </p:normalViewPr>
  <p:slideViewPr>
    <p:cSldViewPr snapToGrid="0">
      <p:cViewPr>
        <p:scale>
          <a:sx n="75" d="100"/>
          <a:sy n="75" d="100"/>
        </p:scale>
        <p:origin x="1416" y="7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08335-AC09-4564-8C3F-6F9455F862BB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97955-C8C6-4BC6-94C5-BF4E5EA57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87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97955-C8C6-4BC6-94C5-BF4E5EA5785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1330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CDCD4-37E2-0093-07D0-ECE96DF0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DAEE831-0961-4782-F8CF-C1E270E8A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13673DD-BCE2-2C99-3C44-0CEB555E9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9BE493-C942-EDD8-CC88-80579C07E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97955-C8C6-4BC6-94C5-BF4E5EA5785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5466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4276C-3AAC-0B39-5489-F6B5616C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D6B9C36-061F-825D-7A62-0ED4E5CC7D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84129F5-CED4-F42A-BDD4-C0009A60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90043F-AF89-B1B9-DCDF-9194144AA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97955-C8C6-4BC6-94C5-BF4E5EA5785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75834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BA64E3-338C-647A-1EB3-F93D06F59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4796DBF-78B0-6ADD-7085-4539DF7DC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79216C-5C7E-648B-A432-6AA5AADD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E39D15-A825-A385-82EF-208A3ABE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B5D29C-0547-E726-A10C-6FFA47B4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5212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CCE80F-6736-ED90-7CA5-F1E1CE6B0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57E32C-7B91-7136-7F05-D109B921A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4DF706-A912-559F-1827-222DAE5D1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A2B769-111A-5847-306E-E6DEEACD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CAE5E0-AF78-E4BD-FFA0-2C4323DF0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996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7500C7-19DF-DDED-7B00-0D0C1488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42FB61-AD07-A0B5-F053-8D476D92B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BEF8F6-C664-EDAF-C810-779B90A3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52B98F-DFBD-ADA6-27A8-CE8FA9CC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9E998-991E-96C5-6F89-3EF36E82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151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524EF4-58D2-AF96-BAF9-2D229A9B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59DEDF-34D2-A9B6-F876-60E7B76A7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3C9AA6-A861-4CF3-3631-29F202566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B75F6E-4865-27D9-02A7-308E607B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AAFAFD-59AA-EFD0-5922-4633F0012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12D581-117F-D5EC-E05D-4C667CBA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49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C5748-FBA5-A215-CFBD-7290DC81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F74550-FB68-F04B-1689-B125B9B00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D0B0BC-30B9-F0A2-2429-C0018493E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DDD412-BAA3-CEBD-A583-BFB302B6CF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8928755-1E6A-2EBA-40D9-06A53A16F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186915-4969-C1F8-55F3-6AB00C1D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EC1750F-4CD6-28BF-990F-64E12E854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B09E9E4-48BF-3B4F-0726-C829C745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37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FD670-F3CD-74D4-D18F-47BD4596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51396F-157D-251F-C242-BB4B90D2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B4CC456-14FA-B447-6452-909D21CBE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A18B4D-717D-4552-6A1B-6C4F815F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62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2962F3F-B7B1-E775-C738-57579265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94C72F7-803C-B4F1-60EC-4FFD285A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2109A1-2C06-6CB8-3F17-8A0D94E7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028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DE10F9-1A51-D9B9-9AEB-0B534351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F6C8F2-FC31-4A2E-E600-77815583A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D171BA4-B3EC-C5E9-0AC3-215321F88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E3ECE3-429E-2C24-4BE7-D059214D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A39266-BDB4-B179-B643-E6AB0147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732C28-7FF9-F0E7-F5DB-7240CF39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851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D2EC31-9BCE-FD13-B4BE-321EE0A75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31FD0D-37CD-7B83-B341-072D60FDB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DFAF64-7053-822F-5C92-C1429CDD4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685492-72E2-9E16-5423-FE8744B1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E281B9-04DF-CF75-9D0D-6D45CFFD1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404F1C-48D8-822E-A1AC-1C94B9C9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215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B68AD-AE5F-E95E-4281-6A9B03F83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CB4426-0B67-712A-6A2D-5EF49282F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791AA8-0D62-0F16-1255-61530D47E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F6F63B-190C-C09F-2F9A-90949442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38E467-BE88-6816-4356-6AF4396FE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528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D9F127-CA49-3029-CB8A-49CE2C9C6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CEFE97-8F61-D08C-49B1-DEE9AB3ED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DF96E2-8CDF-9EA5-6C9E-9C6CEB5A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71D304-4717-8072-60FC-F7969A84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1A7058-B04F-B52D-8F72-C0C3BD64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22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018D0B-07CC-B5FA-8555-2BD667D3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985E6-5D5B-0F9F-F0D9-CCE17BBE8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7A64E3-519A-829A-F1A7-44008707F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E4C03-34E1-41F2-84F2-32AD38DD92B9}" type="datetimeFigureOut">
              <a:rPr lang="de-DE" smtClean="0"/>
              <a:t>07.01.2026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C1FC4A-7A1A-8E9C-9EAE-4B0D67F98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CB1A03-DFCB-F96B-E2C5-64268CD4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9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E0000BD7-144E-7514-8CFA-6C22C35DFC58}"/>
              </a:ext>
            </a:extLst>
          </p:cNvPr>
          <p:cNvGrpSpPr/>
          <p:nvPr/>
        </p:nvGrpSpPr>
        <p:grpSpPr>
          <a:xfrm>
            <a:off x="0" y="0"/>
            <a:ext cx="9337040" cy="6507712"/>
            <a:chOff x="0" y="160018"/>
            <a:chExt cx="9337040" cy="6507712"/>
          </a:xfrm>
        </p:grpSpPr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1C7A2B9E-0959-D47C-BD9E-8A9E9D41E3DA}"/>
                </a:ext>
              </a:extLst>
            </p:cNvPr>
            <p:cNvSpPr/>
            <p:nvPr/>
          </p:nvSpPr>
          <p:spPr>
            <a:xfrm>
              <a:off x="0" y="160018"/>
              <a:ext cx="9337040" cy="65077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rnd">
              <a:solidFill>
                <a:srgbClr val="004C3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731BE199-0FBA-40B9-F9FE-84B6DC474C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57" y="3704967"/>
              <a:ext cx="0" cy="2623684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CDB7A282-A81B-990E-14AA-E0A84F58C7C9}"/>
                </a:ext>
              </a:extLst>
            </p:cNvPr>
            <p:cNvCxnSpPr>
              <a:cxnSpLocks/>
            </p:cNvCxnSpPr>
            <p:nvPr/>
          </p:nvCxnSpPr>
          <p:spPr>
            <a:xfrm>
              <a:off x="318157" y="6317942"/>
              <a:ext cx="8700726" cy="0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AD99CD9B-C162-F868-2BF2-96194582B288}"/>
                </a:ext>
              </a:extLst>
            </p:cNvPr>
            <p:cNvSpPr txBox="1"/>
            <p:nvPr/>
          </p:nvSpPr>
          <p:spPr>
            <a:xfrm>
              <a:off x="4001292" y="6298090"/>
              <a:ext cx="159927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Habitat Density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A1F83CBD-DAB3-0749-C5B0-931CC0E86FB8}"/>
                </a:ext>
              </a:extLst>
            </p:cNvPr>
            <p:cNvSpPr txBox="1"/>
            <p:nvPr/>
          </p:nvSpPr>
          <p:spPr>
            <a:xfrm rot="16200000">
              <a:off x="-1120785" y="3356376"/>
              <a:ext cx="262368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Mean Peak Frequency</a:t>
              </a:r>
            </a:p>
          </p:txBody>
        </p: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27B49C2B-C836-1048-8E1B-C82BC0D2A5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2433" y="740575"/>
              <a:ext cx="19666" cy="559895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 Verbindung mit Pfeil 63">
              <a:extLst>
                <a:ext uri="{FF2B5EF4-FFF2-40B4-BE49-F238E27FC236}">
                  <a16:creationId xmlns:a16="http://schemas.microsoft.com/office/drawing/2014/main" id="{D9242A61-4682-D155-0035-E1F64566DF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271" y="6317942"/>
              <a:ext cx="8698048" cy="1066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9B83B56B-1B38-37DF-6645-0372CD0A241A}"/>
                </a:ext>
              </a:extLst>
            </p:cNvPr>
            <p:cNvSpPr/>
            <p:nvPr/>
          </p:nvSpPr>
          <p:spPr>
            <a:xfrm>
              <a:off x="441034" y="849966"/>
              <a:ext cx="8537045" cy="5446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0" name="Gerade Verbindung mit Pfeil 79">
              <a:extLst>
                <a:ext uri="{FF2B5EF4-FFF2-40B4-BE49-F238E27FC236}">
                  <a16:creationId xmlns:a16="http://schemas.microsoft.com/office/drawing/2014/main" id="{4CD7ED40-4B29-6502-7180-CE191BFE80AA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28026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863B10F8-1DB4-2DFE-2E4B-226F985B08CE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989428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EA2D6C02-3C41-EF30-6ADA-93AA68D6678F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2714852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50106B53-290D-AEBC-6311-B38AFC6ED3D3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342900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3BBA120C-DDB3-EA6F-BDA3-6795ACEF234B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144264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C78F0B4F-A05E-D521-4D3D-8B8A0EE65D20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5586984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D7942CEC-8BB0-826B-2CF1-11AF64EFD961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852884"/>
              <a:ext cx="8539248" cy="6644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89" name="Grafik 88" descr="Ein Bild, das Screenshot, Schwarzweiß, monochrom, Baum enthält.&#10;&#10;KI-generierte Inhalte können fehlerhaft sein.">
              <a:extLst>
                <a:ext uri="{FF2B5EF4-FFF2-40B4-BE49-F238E27FC236}">
                  <a16:creationId xmlns:a16="http://schemas.microsoft.com/office/drawing/2014/main" id="{841DF77B-B230-5C90-5F31-E21F59CC0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2266" y="1093282"/>
              <a:ext cx="8571472" cy="5213738"/>
            </a:xfrm>
            <a:prstGeom prst="rect">
              <a:avLst/>
            </a:prstGeom>
          </p:spPr>
        </p:pic>
        <p:sp>
          <p:nvSpPr>
            <p:cNvPr id="79" name="Rechteck 78">
              <a:extLst>
                <a:ext uri="{FF2B5EF4-FFF2-40B4-BE49-F238E27FC236}">
                  <a16:creationId xmlns:a16="http://schemas.microsoft.com/office/drawing/2014/main" id="{346EFFA7-2C10-58EC-5C06-2CBA47B5A5A3}"/>
                </a:ext>
              </a:extLst>
            </p:cNvPr>
            <p:cNvSpPr/>
            <p:nvPr/>
          </p:nvSpPr>
          <p:spPr>
            <a:xfrm rot="1233325" flipV="1">
              <a:off x="169464" y="4477259"/>
              <a:ext cx="9052760" cy="202475"/>
            </a:xfrm>
            <a:prstGeom prst="rect">
              <a:avLst/>
            </a:prstGeom>
            <a:solidFill>
              <a:srgbClr val="DAA520">
                <a:alpha val="45000"/>
              </a:srgbClr>
            </a:solidFill>
            <a:ln>
              <a:noFill/>
            </a:ln>
            <a:effectLst>
              <a:softEdge rad="381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E33FEDEC-7EC6-0177-7AB5-40C0B5D63BB7}"/>
                </a:ext>
              </a:extLst>
            </p:cNvPr>
            <p:cNvSpPr txBox="1"/>
            <p:nvPr/>
          </p:nvSpPr>
          <p:spPr>
            <a:xfrm>
              <a:off x="502535" y="304937"/>
              <a:ext cx="40619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rgbClr val="004C3F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Acoustic Adaptation Hypothesis (AAH)</a:t>
              </a:r>
            </a:p>
          </p:txBody>
        </p:sp>
      </p:grp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30ACF409-A004-30DC-F603-3AE7EA17579C}"/>
              </a:ext>
            </a:extLst>
          </p:cNvPr>
          <p:cNvCxnSpPr>
            <a:cxnSpLocks/>
          </p:cNvCxnSpPr>
          <p:nvPr/>
        </p:nvCxnSpPr>
        <p:spPr>
          <a:xfrm>
            <a:off x="499568" y="2829206"/>
            <a:ext cx="8476398" cy="3178544"/>
          </a:xfrm>
          <a:prstGeom prst="line">
            <a:avLst/>
          </a:prstGeom>
          <a:ln w="25400">
            <a:solidFill>
              <a:srgbClr val="DAA5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feld 112">
            <a:extLst>
              <a:ext uri="{FF2B5EF4-FFF2-40B4-BE49-F238E27FC236}">
                <a16:creationId xmlns:a16="http://schemas.microsoft.com/office/drawing/2014/main" id="{AE56F4C4-1EC8-5222-C91F-15AA00BB0126}"/>
              </a:ext>
            </a:extLst>
          </p:cNvPr>
          <p:cNvSpPr txBox="1"/>
          <p:nvPr/>
        </p:nvSpPr>
        <p:spPr>
          <a:xfrm>
            <a:off x="375723" y="6138072"/>
            <a:ext cx="159927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Open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88E7E8E0-0884-BE67-4091-B50170AD7D12}"/>
              </a:ext>
            </a:extLst>
          </p:cNvPr>
          <p:cNvSpPr txBox="1"/>
          <p:nvPr/>
        </p:nvSpPr>
        <p:spPr>
          <a:xfrm>
            <a:off x="8299684" y="6126263"/>
            <a:ext cx="159927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Closed</a:t>
            </a:r>
          </a:p>
        </p:txBody>
      </p:sp>
    </p:spTree>
    <p:extLst>
      <p:ext uri="{BB962C8B-B14F-4D97-AF65-F5344CB8AC3E}">
        <p14:creationId xmlns:p14="http://schemas.microsoft.com/office/powerpoint/2010/main" val="264713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3D04-B3E1-F396-3FCF-6024BD51F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92A1F95A-8EEB-F17E-3023-F2F2B6CB00AC}"/>
              </a:ext>
            </a:extLst>
          </p:cNvPr>
          <p:cNvGrpSpPr/>
          <p:nvPr/>
        </p:nvGrpSpPr>
        <p:grpSpPr>
          <a:xfrm>
            <a:off x="0" y="0"/>
            <a:ext cx="9337040" cy="6518506"/>
            <a:chOff x="0" y="160018"/>
            <a:chExt cx="9337040" cy="6518506"/>
          </a:xfrm>
        </p:grpSpPr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AD070B92-7BF0-6784-5463-1DEC0F85CF0C}"/>
                </a:ext>
              </a:extLst>
            </p:cNvPr>
            <p:cNvSpPr/>
            <p:nvPr/>
          </p:nvSpPr>
          <p:spPr>
            <a:xfrm>
              <a:off x="0" y="160018"/>
              <a:ext cx="9337040" cy="65077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rnd">
              <a:solidFill>
                <a:srgbClr val="004C3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9D6641E6-BAE2-1D3A-91BE-3A645B25EC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57" y="3704967"/>
              <a:ext cx="0" cy="2623684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CD9EE2EB-C0BC-5AD9-0DFD-1A510D2F5AC2}"/>
                </a:ext>
              </a:extLst>
            </p:cNvPr>
            <p:cNvCxnSpPr>
              <a:cxnSpLocks/>
            </p:cNvCxnSpPr>
            <p:nvPr/>
          </p:nvCxnSpPr>
          <p:spPr>
            <a:xfrm>
              <a:off x="318157" y="6317942"/>
              <a:ext cx="8700726" cy="0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F7123826-B5A5-3AE6-F43B-E27E9C017D04}"/>
                </a:ext>
              </a:extLst>
            </p:cNvPr>
            <p:cNvSpPr txBox="1"/>
            <p:nvPr/>
          </p:nvSpPr>
          <p:spPr>
            <a:xfrm>
              <a:off x="4214227" y="6309192"/>
              <a:ext cx="6653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Time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54A34A3A-B0FE-59A9-BB4A-BC98920392CD}"/>
                </a:ext>
              </a:extLst>
            </p:cNvPr>
            <p:cNvSpPr txBox="1"/>
            <p:nvPr/>
          </p:nvSpPr>
          <p:spPr>
            <a:xfrm rot="16200000">
              <a:off x="-361925" y="3244333"/>
              <a:ext cx="1147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Frequency</a:t>
              </a:r>
            </a:p>
          </p:txBody>
        </p: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AA0526D4-580E-27A9-66D4-C246B15B5D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2433" y="740575"/>
              <a:ext cx="19666" cy="559895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 Verbindung mit Pfeil 63">
              <a:extLst>
                <a:ext uri="{FF2B5EF4-FFF2-40B4-BE49-F238E27FC236}">
                  <a16:creationId xmlns:a16="http://schemas.microsoft.com/office/drawing/2014/main" id="{637F1065-6F2C-B910-EF56-2009014630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271" y="6317942"/>
              <a:ext cx="8698048" cy="1066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36A335B0-16D8-63DB-50EA-60DFE2DA5D84}"/>
                </a:ext>
              </a:extLst>
            </p:cNvPr>
            <p:cNvSpPr/>
            <p:nvPr/>
          </p:nvSpPr>
          <p:spPr>
            <a:xfrm>
              <a:off x="441034" y="849966"/>
              <a:ext cx="8537045" cy="5446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0" name="Gerade Verbindung mit Pfeil 79">
              <a:extLst>
                <a:ext uri="{FF2B5EF4-FFF2-40B4-BE49-F238E27FC236}">
                  <a16:creationId xmlns:a16="http://schemas.microsoft.com/office/drawing/2014/main" id="{3777F6EB-7798-D509-EA00-95609BEDB6B4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28026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F55EB672-6715-39A5-B79F-63D014359332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989428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9E3E445E-1DFD-05CC-552A-AC55B58632A3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2714852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050CB9CC-AEEB-E4CD-739A-3E2A49BDBF97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342900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D087A248-0AF6-CC56-EF00-CE5D385109D6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144264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BB6BF89D-F2FC-D9C4-8446-0338FF7C8D46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5586984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DFF0E3B9-EE30-AAFF-817D-0AD588E09485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852884"/>
              <a:ext cx="8539248" cy="6644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F666B277-20FD-518D-196C-1454BE2C1357}"/>
                </a:ext>
              </a:extLst>
            </p:cNvPr>
            <p:cNvSpPr txBox="1"/>
            <p:nvPr/>
          </p:nvSpPr>
          <p:spPr>
            <a:xfrm>
              <a:off x="502535" y="304937"/>
              <a:ext cx="65643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rgbClr val="004C3F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Acoustic Niche Hypothesis (ANH) – Spectral Partitioning</a:t>
              </a: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721F9D2B-1C32-B86E-4409-CBFFD6C7ACC0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21542"/>
          <a:stretch>
            <a:fillRect/>
          </a:stretch>
        </p:blipFill>
        <p:spPr>
          <a:xfrm>
            <a:off x="2408951" y="3618621"/>
            <a:ext cx="6290530" cy="1870402"/>
          </a:xfrm>
          <a:prstGeom prst="rect">
            <a:avLst/>
          </a:prstGeom>
          <a:effectLst>
            <a:softEdge rad="88900"/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5293AFE8-082F-A4EE-BEA8-1123120D66F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3">
                <a:shade val="45000"/>
                <a:satMod val="135000"/>
              </a:schemeClr>
              <a:prstClr val="white"/>
            </a:duotone>
            <a:alphaModFix/>
          </a:blip>
          <a:srcRect r="31174"/>
          <a:stretch>
            <a:fillRect/>
          </a:stretch>
        </p:blipFill>
        <p:spPr>
          <a:xfrm>
            <a:off x="2385103" y="1577962"/>
            <a:ext cx="6248399" cy="1895740"/>
          </a:xfrm>
          <a:prstGeom prst="rect">
            <a:avLst/>
          </a:prstGeom>
          <a:effectLst>
            <a:softEdge rad="101600"/>
          </a:effectLst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1A0E2AAB-EC47-0281-8B02-AE8B64D8FF82}"/>
              </a:ext>
            </a:extLst>
          </p:cNvPr>
          <p:cNvCxnSpPr>
            <a:cxnSpLocks/>
          </p:cNvCxnSpPr>
          <p:nvPr/>
        </p:nvCxnSpPr>
        <p:spPr>
          <a:xfrm>
            <a:off x="2393525" y="2554834"/>
            <a:ext cx="6248399" cy="0"/>
          </a:xfrm>
          <a:prstGeom prst="line">
            <a:avLst/>
          </a:prstGeom>
          <a:ln w="28575">
            <a:solidFill>
              <a:srgbClr val="377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FBD8CA91-E24E-4416-3C0B-3A9CD7670009}"/>
              </a:ext>
            </a:extLst>
          </p:cNvPr>
          <p:cNvCxnSpPr>
            <a:cxnSpLocks/>
          </p:cNvCxnSpPr>
          <p:nvPr/>
        </p:nvCxnSpPr>
        <p:spPr>
          <a:xfrm>
            <a:off x="2621131" y="5328310"/>
            <a:ext cx="6248399" cy="0"/>
          </a:xfrm>
          <a:prstGeom prst="line">
            <a:avLst/>
          </a:prstGeom>
          <a:ln w="28575">
            <a:solidFill>
              <a:srgbClr val="C86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C70DE615-A66B-B986-6DDB-88C746FEF2CA}"/>
              </a:ext>
            </a:extLst>
          </p:cNvPr>
          <p:cNvSpPr/>
          <p:nvPr/>
        </p:nvSpPr>
        <p:spPr>
          <a:xfrm>
            <a:off x="2348507" y="2484580"/>
            <a:ext cx="6292733" cy="158978"/>
          </a:xfrm>
          <a:prstGeom prst="rect">
            <a:avLst/>
          </a:prstGeom>
          <a:solidFill>
            <a:srgbClr val="37763F">
              <a:alpha val="53000"/>
            </a:srgb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EFFDABF-6399-B39F-B832-A2A86CD7CEBD}"/>
              </a:ext>
            </a:extLst>
          </p:cNvPr>
          <p:cNvSpPr/>
          <p:nvPr/>
        </p:nvSpPr>
        <p:spPr>
          <a:xfrm>
            <a:off x="2587254" y="5280038"/>
            <a:ext cx="6250602" cy="123023"/>
          </a:xfrm>
          <a:prstGeom prst="rect">
            <a:avLst/>
          </a:prstGeom>
          <a:solidFill>
            <a:srgbClr val="C86C3B">
              <a:alpha val="53000"/>
            </a:srgb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83C9345C-A0FF-D450-F277-1EC8397CC8C4}"/>
                  </a:ext>
                </a:extLst>
              </p:cNvPr>
              <p:cNvSpPr txBox="1"/>
              <p:nvPr/>
            </p:nvSpPr>
            <p:spPr>
              <a:xfrm>
                <a:off x="8318710" y="2190747"/>
                <a:ext cx="563551" cy="2984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de-DE" i="1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83C9345C-A0FF-D450-F277-1EC8397CC8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8710" y="2190747"/>
                <a:ext cx="563551" cy="298415"/>
              </a:xfrm>
              <a:prstGeom prst="rect">
                <a:avLst/>
              </a:prstGeom>
              <a:blipFill>
                <a:blip r:embed="rId5"/>
                <a:stretch>
                  <a:fillRect l="-14130" r="-5435" b="-2653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D2CC6F0C-A160-DE07-2D7B-2FA4F5E1D219}"/>
                  </a:ext>
                </a:extLst>
              </p:cNvPr>
              <p:cNvSpPr txBox="1"/>
              <p:nvPr/>
            </p:nvSpPr>
            <p:spPr>
              <a:xfrm>
                <a:off x="8301753" y="4974969"/>
                <a:ext cx="56355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de-DE" i="1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D2CC6F0C-A160-DE07-2D7B-2FA4F5E1D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1753" y="4974969"/>
                <a:ext cx="563551" cy="298415"/>
              </a:xfrm>
              <a:prstGeom prst="rect">
                <a:avLst/>
              </a:prstGeom>
              <a:blipFill>
                <a:blip r:embed="rId6"/>
                <a:stretch>
                  <a:fillRect l="-14130" r="-5435" b="-2653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Geschweifte Klammer links 47">
            <a:extLst>
              <a:ext uri="{FF2B5EF4-FFF2-40B4-BE49-F238E27FC236}">
                <a16:creationId xmlns:a16="http://schemas.microsoft.com/office/drawing/2014/main" id="{54DF35B5-8B6C-6DD2-D0FA-102E7CEE9534}"/>
              </a:ext>
            </a:extLst>
          </p:cNvPr>
          <p:cNvSpPr/>
          <p:nvPr/>
        </p:nvSpPr>
        <p:spPr>
          <a:xfrm rot="10800000">
            <a:off x="471028" y="1999455"/>
            <a:ext cx="221505" cy="103980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94B95903-1759-A3E6-93B9-75573F91315A}"/>
              </a:ext>
            </a:extLst>
          </p:cNvPr>
          <p:cNvSpPr txBox="1"/>
          <p:nvPr/>
        </p:nvSpPr>
        <p:spPr>
          <a:xfrm>
            <a:off x="422099" y="1353124"/>
            <a:ext cx="97141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Spectral</a:t>
            </a:r>
          </a:p>
          <a:p>
            <a:r>
              <a:rPr lang="de-DE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Niche A</a:t>
            </a:r>
          </a:p>
        </p:txBody>
      </p:sp>
      <p:pic>
        <p:nvPicPr>
          <p:cNvPr id="51" name="Grafik 50" descr="Ein Bild, das Vogel, Schnabel, Tukan, Nashornvogel enthält.&#10;&#10;KI-generierte Inhalte können fehlerhaft sein.">
            <a:extLst>
              <a:ext uri="{FF2B5EF4-FFF2-40B4-BE49-F238E27FC236}">
                <a16:creationId xmlns:a16="http://schemas.microsoft.com/office/drawing/2014/main" id="{5AECED3E-6335-6294-AEC5-495D7EAF2217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24" y="3774041"/>
            <a:ext cx="1974244" cy="2010655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</p:pic>
      <p:pic>
        <p:nvPicPr>
          <p:cNvPr id="53" name="Grafik 52" descr="Ein Bild, das Vogel, Schnabel, Feder, Wildleben enthält.&#10;&#10;KI-generierte Inhalte können fehlerhaft sein.">
            <a:extLst>
              <a:ext uri="{FF2B5EF4-FFF2-40B4-BE49-F238E27FC236}">
                <a16:creationId xmlns:a16="http://schemas.microsoft.com/office/drawing/2014/main" id="{D50C073C-AC3B-BD7E-C094-4A48C42618F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747" y="2235817"/>
            <a:ext cx="672779" cy="854461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</p:pic>
      <p:sp>
        <p:nvSpPr>
          <p:cNvPr id="54" name="Geschweifte Klammer links 53">
            <a:extLst>
              <a:ext uri="{FF2B5EF4-FFF2-40B4-BE49-F238E27FC236}">
                <a16:creationId xmlns:a16="http://schemas.microsoft.com/office/drawing/2014/main" id="{2845CD80-4B27-8D4A-91AC-8F885E6915D7}"/>
              </a:ext>
            </a:extLst>
          </p:cNvPr>
          <p:cNvSpPr/>
          <p:nvPr/>
        </p:nvSpPr>
        <p:spPr>
          <a:xfrm rot="10800000">
            <a:off x="468602" y="4297494"/>
            <a:ext cx="200958" cy="115209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Textfeld 54">
            <a:extLst>
              <a:ext uri="{FF2B5EF4-FFF2-40B4-BE49-F238E27FC236}">
                <a16:creationId xmlns:a16="http://schemas.microsoft.com/office/drawing/2014/main" id="{6C997A77-662C-0B78-CB4A-F6B0DA025E0A}"/>
              </a:ext>
            </a:extLst>
          </p:cNvPr>
          <p:cNvSpPr txBox="1"/>
          <p:nvPr/>
        </p:nvSpPr>
        <p:spPr>
          <a:xfrm>
            <a:off x="422099" y="3645660"/>
            <a:ext cx="1821029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Spectral </a:t>
            </a:r>
          </a:p>
          <a:p>
            <a:r>
              <a:rPr lang="de-DE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Niche B</a:t>
            </a:r>
          </a:p>
        </p:txBody>
      </p:sp>
    </p:spTree>
    <p:extLst>
      <p:ext uri="{BB962C8B-B14F-4D97-AF65-F5344CB8AC3E}">
        <p14:creationId xmlns:p14="http://schemas.microsoft.com/office/powerpoint/2010/main" val="3736586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5BE9F-E1B2-6DAE-E056-B1153B9EE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DF0CE199-0B79-6FC1-5B65-01C999F1E053}"/>
              </a:ext>
            </a:extLst>
          </p:cNvPr>
          <p:cNvGrpSpPr/>
          <p:nvPr/>
        </p:nvGrpSpPr>
        <p:grpSpPr>
          <a:xfrm>
            <a:off x="0" y="0"/>
            <a:ext cx="9337040" cy="6518506"/>
            <a:chOff x="0" y="160018"/>
            <a:chExt cx="9337040" cy="6518506"/>
          </a:xfrm>
        </p:grpSpPr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B3DAA708-1A55-C43E-E07F-39E4EFFE63CA}"/>
                </a:ext>
              </a:extLst>
            </p:cNvPr>
            <p:cNvSpPr/>
            <p:nvPr/>
          </p:nvSpPr>
          <p:spPr>
            <a:xfrm>
              <a:off x="0" y="160018"/>
              <a:ext cx="9337040" cy="65077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rnd">
              <a:solidFill>
                <a:srgbClr val="004C3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1B664F1D-DD12-E9F9-C986-C59D6D6989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57" y="3704967"/>
              <a:ext cx="0" cy="2623684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E7EB34D2-1F76-D1EE-FCE4-F8B99F20DD79}"/>
                </a:ext>
              </a:extLst>
            </p:cNvPr>
            <p:cNvCxnSpPr>
              <a:cxnSpLocks/>
            </p:cNvCxnSpPr>
            <p:nvPr/>
          </p:nvCxnSpPr>
          <p:spPr>
            <a:xfrm>
              <a:off x="318157" y="6317942"/>
              <a:ext cx="8700726" cy="0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8F3318CA-FF0F-8EA5-2FDF-14F8C9D94588}"/>
                </a:ext>
              </a:extLst>
            </p:cNvPr>
            <p:cNvSpPr txBox="1"/>
            <p:nvPr/>
          </p:nvSpPr>
          <p:spPr>
            <a:xfrm>
              <a:off x="4214227" y="6309192"/>
              <a:ext cx="665342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Time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CA92AFB0-7050-AD46-F83A-F8F4CD09D70B}"/>
                </a:ext>
              </a:extLst>
            </p:cNvPr>
            <p:cNvSpPr txBox="1"/>
            <p:nvPr/>
          </p:nvSpPr>
          <p:spPr>
            <a:xfrm rot="16200000">
              <a:off x="-361925" y="3244333"/>
              <a:ext cx="114791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Frequency</a:t>
              </a:r>
            </a:p>
          </p:txBody>
        </p: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C6ACEFEC-AE15-3A90-A9BE-63561E0F0E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2433" y="740575"/>
              <a:ext cx="19666" cy="559895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 Verbindung mit Pfeil 63">
              <a:extLst>
                <a:ext uri="{FF2B5EF4-FFF2-40B4-BE49-F238E27FC236}">
                  <a16:creationId xmlns:a16="http://schemas.microsoft.com/office/drawing/2014/main" id="{C3AC9579-92CD-7290-A999-DE630E3F0A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1271" y="6317942"/>
              <a:ext cx="8698048" cy="1066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7DECA13E-E0C5-9B1B-F47D-A58EE4F27B06}"/>
                </a:ext>
              </a:extLst>
            </p:cNvPr>
            <p:cNvSpPr/>
            <p:nvPr/>
          </p:nvSpPr>
          <p:spPr>
            <a:xfrm>
              <a:off x="441034" y="849966"/>
              <a:ext cx="8537045" cy="54463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0" name="Gerade Verbindung mit Pfeil 79">
              <a:extLst>
                <a:ext uri="{FF2B5EF4-FFF2-40B4-BE49-F238E27FC236}">
                  <a16:creationId xmlns:a16="http://schemas.microsoft.com/office/drawing/2014/main" id="{964FFC5A-0767-8F5B-5DE4-3EF7EEC200D8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28026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41E54C77-8AEF-5EA4-B947-364635887F1D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989428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AB164F45-28A1-FEC2-87A9-CEE359439298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2714852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D191F1DC-318C-0957-6B35-1A142F7D2771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342900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B86E5BA8-E215-6CDE-BCF0-E2A855301B2A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144264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F686E7E4-4E51-AD46-147F-2488919AE736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5586984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571A50B7-90BF-1E34-5A36-39456867C0F8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852884"/>
              <a:ext cx="8539248" cy="6644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9E385044-717D-24ED-CB62-621D8374C072}"/>
                </a:ext>
              </a:extLst>
            </p:cNvPr>
            <p:cNvSpPr txBox="1"/>
            <p:nvPr/>
          </p:nvSpPr>
          <p:spPr>
            <a:xfrm>
              <a:off x="502535" y="304937"/>
              <a:ext cx="656439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rgbClr val="004C3F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Acoustic Niche Hypothesis (ANH) – Temporal Partitioning</a:t>
              </a:r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75E76CE-0A9A-9E13-7CBF-5B37F2CD9AA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alphaModFix/>
          </a:blip>
          <a:srcRect r="74353"/>
          <a:stretch>
            <a:fillRect/>
          </a:stretch>
        </p:blipFill>
        <p:spPr>
          <a:xfrm>
            <a:off x="2185134" y="1743344"/>
            <a:ext cx="2328440" cy="1895740"/>
          </a:xfrm>
          <a:prstGeom prst="rect">
            <a:avLst/>
          </a:prstGeom>
          <a:effectLst>
            <a:softEdge rad="101600"/>
          </a:effectLst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08F9FD35-ECF7-21D9-889A-7DF5EA96C7D9}"/>
              </a:ext>
            </a:extLst>
          </p:cNvPr>
          <p:cNvCxnSpPr>
            <a:cxnSpLocks/>
            <a:stCxn id="11" idx="1"/>
            <a:endCxn id="11" idx="3"/>
          </p:cNvCxnSpPr>
          <p:nvPr/>
        </p:nvCxnSpPr>
        <p:spPr>
          <a:xfrm>
            <a:off x="2185134" y="2691214"/>
            <a:ext cx="2328440" cy="0"/>
          </a:xfrm>
          <a:prstGeom prst="line">
            <a:avLst/>
          </a:prstGeom>
          <a:ln w="31750">
            <a:solidFill>
              <a:srgbClr val="377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Grafik 4">
            <a:extLst>
              <a:ext uri="{FF2B5EF4-FFF2-40B4-BE49-F238E27FC236}">
                <a16:creationId xmlns:a16="http://schemas.microsoft.com/office/drawing/2014/main" id="{CE3D64ED-AEB8-D1AB-1B3A-73146853181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23250" r="59445"/>
          <a:stretch>
            <a:fillRect/>
          </a:stretch>
        </p:blipFill>
        <p:spPr>
          <a:xfrm>
            <a:off x="4879569" y="1729681"/>
            <a:ext cx="1869001" cy="2000111"/>
          </a:xfrm>
          <a:prstGeom prst="rect">
            <a:avLst/>
          </a:prstGeom>
          <a:effectLst>
            <a:softEdge rad="76200"/>
          </a:effectLst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C34A5B3D-9649-0FA8-5CED-96385B49EA21}"/>
              </a:ext>
            </a:extLst>
          </p:cNvPr>
          <p:cNvCxnSpPr>
            <a:cxnSpLocks/>
          </p:cNvCxnSpPr>
          <p:nvPr/>
        </p:nvCxnSpPr>
        <p:spPr>
          <a:xfrm>
            <a:off x="4879568" y="2699028"/>
            <a:ext cx="1869001" cy="0"/>
          </a:xfrm>
          <a:prstGeom prst="line">
            <a:avLst/>
          </a:prstGeom>
          <a:ln w="38100">
            <a:solidFill>
              <a:srgbClr val="C86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36BF6D17-0015-7BE1-6BC9-2E99EA06478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alphaModFix/>
          </a:blip>
          <a:srcRect l="53398" r="31174"/>
          <a:stretch>
            <a:fillRect/>
          </a:stretch>
        </p:blipFill>
        <p:spPr>
          <a:xfrm>
            <a:off x="7366000" y="1729681"/>
            <a:ext cx="1407305" cy="1904775"/>
          </a:xfrm>
          <a:prstGeom prst="rect">
            <a:avLst/>
          </a:prstGeom>
          <a:effectLst>
            <a:softEdge rad="88900"/>
          </a:effectLst>
        </p:spPr>
      </p:pic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9F52EB05-0B8D-0AC5-AE84-BC331260E3C0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7366000" y="2682069"/>
            <a:ext cx="1407305" cy="0"/>
          </a:xfrm>
          <a:prstGeom prst="line">
            <a:avLst/>
          </a:prstGeom>
          <a:ln w="38100">
            <a:solidFill>
              <a:srgbClr val="377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B588A61B-F636-20F3-E1D7-1DDE592D29C8}"/>
              </a:ext>
            </a:extLst>
          </p:cNvPr>
          <p:cNvSpPr/>
          <p:nvPr/>
        </p:nvSpPr>
        <p:spPr>
          <a:xfrm>
            <a:off x="2192167" y="2682068"/>
            <a:ext cx="2328440" cy="125263"/>
          </a:xfrm>
          <a:prstGeom prst="rect">
            <a:avLst/>
          </a:prstGeom>
          <a:solidFill>
            <a:srgbClr val="37763F">
              <a:alpha val="53000"/>
            </a:srgb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9A5B6BC-35D5-A12C-3011-EC4A73811ECE}"/>
              </a:ext>
            </a:extLst>
          </p:cNvPr>
          <p:cNvSpPr/>
          <p:nvPr/>
        </p:nvSpPr>
        <p:spPr>
          <a:xfrm>
            <a:off x="7365999" y="2611927"/>
            <a:ext cx="1407306" cy="145983"/>
          </a:xfrm>
          <a:prstGeom prst="rect">
            <a:avLst/>
          </a:prstGeom>
          <a:solidFill>
            <a:srgbClr val="37763F">
              <a:alpha val="53000"/>
            </a:srgb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5D570979-59A1-9CDD-A1B3-09E62148DE3D}"/>
              </a:ext>
            </a:extLst>
          </p:cNvPr>
          <p:cNvSpPr/>
          <p:nvPr/>
        </p:nvSpPr>
        <p:spPr>
          <a:xfrm>
            <a:off x="4835235" y="2644281"/>
            <a:ext cx="1806160" cy="122989"/>
          </a:xfrm>
          <a:prstGeom prst="rect">
            <a:avLst/>
          </a:prstGeom>
          <a:solidFill>
            <a:srgbClr val="C86C3B">
              <a:alpha val="53000"/>
            </a:srgb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C53CF92B-EAF4-258B-5634-1F912BB866BD}"/>
                  </a:ext>
                </a:extLst>
              </p:cNvPr>
              <p:cNvSpPr txBox="1"/>
              <p:nvPr/>
            </p:nvSpPr>
            <p:spPr>
              <a:xfrm>
                <a:off x="6799921" y="2369683"/>
                <a:ext cx="56355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de-DE" i="1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C53CF92B-EAF4-258B-5634-1F912BB86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9921" y="2369683"/>
                <a:ext cx="563551" cy="298415"/>
              </a:xfrm>
              <a:prstGeom prst="rect">
                <a:avLst/>
              </a:prstGeom>
              <a:blipFill>
                <a:blip r:embed="rId5"/>
                <a:stretch>
                  <a:fillRect l="-13978" t="-2041" r="-4301" b="-2653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Geschweifte Klammer links 29">
            <a:extLst>
              <a:ext uri="{FF2B5EF4-FFF2-40B4-BE49-F238E27FC236}">
                <a16:creationId xmlns:a16="http://schemas.microsoft.com/office/drawing/2014/main" id="{843EB0B0-AC6C-6DBA-A5FB-198E8DDCF0A9}"/>
              </a:ext>
            </a:extLst>
          </p:cNvPr>
          <p:cNvSpPr/>
          <p:nvPr/>
        </p:nvSpPr>
        <p:spPr>
          <a:xfrm rot="5400000">
            <a:off x="3369944" y="4693022"/>
            <a:ext cx="306771" cy="262381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5CCFD1D0-89F9-241A-A65E-3330F9980049}"/>
              </a:ext>
            </a:extLst>
          </p:cNvPr>
          <p:cNvSpPr txBox="1"/>
          <p:nvPr/>
        </p:nvSpPr>
        <p:spPr>
          <a:xfrm>
            <a:off x="2529977" y="5471502"/>
            <a:ext cx="18220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Temporal Niche A</a:t>
            </a:r>
          </a:p>
        </p:txBody>
      </p:sp>
      <p:pic>
        <p:nvPicPr>
          <p:cNvPr id="37" name="Grafik 36" descr="Ein Bild, das Vogel, Singvogel, gelb, Kanarienvogel enthält.&#10;&#10;KI-generierte Inhalte können fehlerhaft sein.">
            <a:extLst>
              <a:ext uri="{FF2B5EF4-FFF2-40B4-BE49-F238E27FC236}">
                <a16:creationId xmlns:a16="http://schemas.microsoft.com/office/drawing/2014/main" id="{F75404E0-0467-A703-B71E-911D0AABF2B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31" y="2868842"/>
            <a:ext cx="1147057" cy="108860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</p:pic>
      <p:pic>
        <p:nvPicPr>
          <p:cNvPr id="38" name="Grafik 37" descr="Ein Bild, das Vogel, Schnabel, Feder, Wildleben enthält.&#10;&#10;KI-generierte Inhalte können fehlerhaft sein.">
            <a:extLst>
              <a:ext uri="{FF2B5EF4-FFF2-40B4-BE49-F238E27FC236}">
                <a16:creationId xmlns:a16="http://schemas.microsoft.com/office/drawing/2014/main" id="{2992FACA-5405-F3A9-5EE2-C4A9D1308635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29" y="2016219"/>
            <a:ext cx="746599" cy="948216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</p:pic>
      <p:sp>
        <p:nvSpPr>
          <p:cNvPr id="39" name="Geschweifte Klammer links 38">
            <a:extLst>
              <a:ext uri="{FF2B5EF4-FFF2-40B4-BE49-F238E27FC236}">
                <a16:creationId xmlns:a16="http://schemas.microsoft.com/office/drawing/2014/main" id="{A9BCD313-8ED0-E3FF-5F97-B4CFE9C6578C}"/>
              </a:ext>
            </a:extLst>
          </p:cNvPr>
          <p:cNvSpPr/>
          <p:nvPr/>
        </p:nvSpPr>
        <p:spPr>
          <a:xfrm rot="5400000">
            <a:off x="7929305" y="5288226"/>
            <a:ext cx="321952" cy="142624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F9098A4-0942-1DAA-70E0-AA36E752BC2F}"/>
              </a:ext>
            </a:extLst>
          </p:cNvPr>
          <p:cNvCxnSpPr>
            <a:cxnSpLocks/>
          </p:cNvCxnSpPr>
          <p:nvPr/>
        </p:nvCxnSpPr>
        <p:spPr>
          <a:xfrm flipV="1">
            <a:off x="2211424" y="2680936"/>
            <a:ext cx="6611234" cy="49678"/>
          </a:xfrm>
          <a:prstGeom prst="line">
            <a:avLst/>
          </a:prstGeom>
          <a:ln>
            <a:solidFill>
              <a:schemeClr val="tx1">
                <a:alpha val="52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FDAE2808-DA7F-B875-98A5-F7328909277B}"/>
              </a:ext>
            </a:extLst>
          </p:cNvPr>
          <p:cNvSpPr txBox="1"/>
          <p:nvPr/>
        </p:nvSpPr>
        <p:spPr>
          <a:xfrm>
            <a:off x="7066933" y="5471502"/>
            <a:ext cx="18220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Temporal Niche A</a:t>
            </a:r>
          </a:p>
        </p:txBody>
      </p:sp>
      <p:sp>
        <p:nvSpPr>
          <p:cNvPr id="41" name="Geschweifte Klammer links 40">
            <a:extLst>
              <a:ext uri="{FF2B5EF4-FFF2-40B4-BE49-F238E27FC236}">
                <a16:creationId xmlns:a16="http://schemas.microsoft.com/office/drawing/2014/main" id="{4BE77AF7-87E8-2B5B-DBB9-0626F25A69D3}"/>
              </a:ext>
            </a:extLst>
          </p:cNvPr>
          <p:cNvSpPr/>
          <p:nvPr/>
        </p:nvSpPr>
        <p:spPr>
          <a:xfrm rot="5400000">
            <a:off x="5956114" y="4758812"/>
            <a:ext cx="306771" cy="249453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A3AE5271-1758-4D7A-34EF-24A6A14D1C48}"/>
              </a:ext>
            </a:extLst>
          </p:cNvPr>
          <p:cNvSpPr txBox="1"/>
          <p:nvPr/>
        </p:nvSpPr>
        <p:spPr>
          <a:xfrm>
            <a:off x="5178923" y="5471502"/>
            <a:ext cx="18220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Temporal Niche B</a:t>
            </a:r>
          </a:p>
        </p:txBody>
      </p:sp>
    </p:spTree>
    <p:extLst>
      <p:ext uri="{BB962C8B-B14F-4D97-AF65-F5344CB8AC3E}">
        <p14:creationId xmlns:p14="http://schemas.microsoft.com/office/powerpoint/2010/main" val="3554101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Breitbild</PresentationFormat>
  <Paragraphs>24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Calibri Light</vt:lpstr>
      <vt:lpstr>Cambria Math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Sonja Kümmet</dc:creator>
  <cp:lastModifiedBy>Sonja Kümmet</cp:lastModifiedBy>
  <cp:revision>61</cp:revision>
  <dcterms:created xsi:type="dcterms:W3CDTF">2026-01-07T18:36:50Z</dcterms:created>
  <dcterms:modified xsi:type="dcterms:W3CDTF">2026-01-13T12:05:04Z</dcterms:modified>
</cp:coreProperties>
</file>